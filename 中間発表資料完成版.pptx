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57" r:id="rId7"/>
    <p:sldId id="258" r:id="rId8"/>
    <p:sldId id="259" r:id="rId9"/>
    <p:sldId id="260" r:id="rId10"/>
    <p:sldId id="263" r:id="rId11"/>
    <p:sldId id="262" r:id="rId12"/>
    <p:sldId id="264" r:id="rId13"/>
    <p:sldId id="265" r:id="rId14"/>
    <p:sldId id="266" r:id="rId15"/>
    <p:sldId id="267" r:id="rId16"/>
    <p:sldId id="268" r:id="rId17"/>
    <p:sldId id="273" r:id="rId18"/>
    <p:sldId id="270" r:id="rId19"/>
    <p:sldId id="272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95C217-E6CE-E816-0D8D-6C5465088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C3AC37-0DA9-67FC-F25E-03674E384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1E390B-880F-162B-F57E-66A8504B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FA79CB-0EC3-F64D-51A4-135E5B9A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F6ED09-208A-52B2-D29A-F13263FF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60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83BC4D-E435-1E36-FEF1-0ECC616E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BEF7FD-DF75-13E7-EEB1-7BB8E9A84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804C90-9177-16C6-C664-7307DD90E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6AE408-B34D-BBFB-52ED-8C1585A25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5F551E-DF94-95DA-EB09-46133FF9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323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EE7B22-AA0C-0A49-17DD-135BA2FD6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37D1FB-C72F-A2B7-C182-77D35B7FC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67C88C-91CF-1CE5-FCE6-CD0F3F972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7D23EC-5D1A-4538-F8C0-7FC22A5B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B770D0-0669-1375-395A-1FDB1698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3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2C7AF-37CC-D979-5FDA-FC8127FD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4EDA16-D3AD-D527-EF93-C8594973A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6504CF-23A5-2CA7-EEF7-DB58D0E3F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158EE5-43BD-C841-7AFD-1C29B2AF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567508-CA68-56E6-D0D6-95BCB201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8ACFBB-58EA-ABB3-EFF2-A32C88DF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0144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3D3CF-94E0-2952-6CE8-9E5B78DB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D92DE2-B71A-AB69-4788-3B518EA9C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95F609-FA2B-FA6A-C3ED-92BEB6F83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E35AE6A-E31F-A966-BFA8-2F4031D51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E39D85-4C7E-6104-FC0A-B345CA57A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C3D76C1-7ED4-F3DE-69A5-6DC787C4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54CBC49-08D9-1831-81FA-0613E5F08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03A4F3C-EA82-F07E-1121-01E39BFA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20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53608-E51E-61F8-9BB9-61428A27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392152-493D-FF46-ACD8-8590FC28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CDD805C-B46F-86C3-089B-9F65EE08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C42C9C-D9EF-97E4-D47A-7A9E7E6D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837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FFB7146-A03D-412D-5FC3-711FBFC8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F95274-E8A1-ABD7-EA41-78B1798C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DA3EB2-717B-1EB5-DABF-330FE640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696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9911E-CEF7-5AEC-3298-2C6847AC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AA55C2-81D5-D7B6-7A33-B6329B265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94E348-FD73-028F-556A-0A2CB3909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84EDF4-DD81-6E4B-1C6A-16F279AA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F25ED0-024B-3680-19FF-427E2F8C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585F43-EAC7-5735-474E-907C590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92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F4D256-627F-F0F5-9B74-55598BE73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9F7418-37F5-EE9B-6997-54A798125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6D31E4-35C2-322E-CCDF-B49BB5C0C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A456A5-5DD4-45A3-40BA-CF9B9583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FFEA46-7E2A-D875-A2FE-94797C82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1F7EAD-FCCD-185A-D69A-517589DC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15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F02CA1-803B-C244-1871-57C8D121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259FBD-DE03-0F99-5F86-A57BC8F35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CDD3B4-A695-E8C9-9D64-D3C3EEBA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385BB0-1A43-3FC8-C199-2800C58F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052D1F-945A-BED4-7EFE-FF1D96DF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4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E4B0932-309E-00E8-10EF-F0F111499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0C8C3F-B618-938A-71B6-983B22BCA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81F46A-EEDE-E289-6EB1-5534BA24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8E04E3-5013-0920-D6B7-49E3B58E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66CCA5-F712-87A7-DA57-5E36E990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01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E0CB4AD-DFB5-5006-B30E-1B51AF001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BA4B6F-8D41-AC6A-7ABC-C24E5B28E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9B9619-22C0-53A8-220F-0ACBD907B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3F6AF-0124-4E21-A215-5007CA05F1A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5E3124-8C53-88AC-C18E-9BE367E11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A0CC90-08E3-0C5E-6072-C93566FB8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5C47A-6226-4FD8-8BDB-B6734467A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60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9A969CD-AD1A-224B-1243-B0C545E25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11500" b="1"/>
              <a:t>中間発表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E47AF88-9D35-A222-D0D3-7813E0DE8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160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3180AA-DE54-CB01-5FE2-463017E25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11500" b="1"/>
              <a:t>要求仕様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7F9127-4FEA-A5AC-DD77-DAD5F9599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88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29AB1AF-602D-E5A2-4CF5-CF503EACB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システムの概要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6A0C33-EA07-B931-80CA-86E3534BE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9370495" cy="366744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目的</a:t>
            </a:r>
            <a:br>
              <a:rPr lang="en-US" altLang="ja-JP" sz="3600" dirty="0"/>
            </a:br>
            <a:br>
              <a:rPr lang="en-US" altLang="ja-JP" sz="3600" dirty="0"/>
            </a:br>
            <a:r>
              <a:rPr lang="ja-JP" altLang="en-US" sz="3600" dirty="0"/>
              <a:t>睡眠時間や</a:t>
            </a:r>
            <a:r>
              <a:rPr lang="ja-JP" altLang="en-US" sz="3600" b="1" dirty="0">
                <a:solidFill>
                  <a:srgbClr val="C00000"/>
                </a:solidFill>
              </a:rPr>
              <a:t>就寝・起床時刻</a:t>
            </a:r>
            <a:r>
              <a:rPr lang="ja-JP" altLang="en-US" sz="3600" dirty="0"/>
              <a:t>を自動的に記録し，利用者の睡眠傾向を分析する．</a:t>
            </a:r>
            <a:endParaRPr lang="en-US" altLang="ja-JP" sz="3600" dirty="0"/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D3247487-DC49-B761-76E3-D6FB16EEE880}"/>
              </a:ext>
            </a:extLst>
          </p:cNvPr>
          <p:cNvSpPr/>
          <p:nvPr/>
        </p:nvSpPr>
        <p:spPr>
          <a:xfrm>
            <a:off x="555710" y="1257975"/>
            <a:ext cx="4270290" cy="567649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2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86C1FCC-482B-8F24-7745-5D58628C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b="1" dirty="0"/>
              <a:t>具体的な流れ</a:t>
            </a:r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315F10-D266-9AFB-0B47-9AF4F2B29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ja-JP" sz="2600" dirty="0"/>
              <a:t>Nature Remo 3 </a:t>
            </a:r>
            <a:r>
              <a:rPr kumimoji="1" lang="ja-JP" altLang="en-US" sz="2600" dirty="0"/>
              <a:t>の</a:t>
            </a:r>
            <a:r>
              <a:rPr kumimoji="1" lang="ja-JP" altLang="en-US" sz="2600" b="1" dirty="0">
                <a:solidFill>
                  <a:srgbClr val="C00000"/>
                </a:solidFill>
              </a:rPr>
              <a:t>人感センサ</a:t>
            </a:r>
            <a:r>
              <a:rPr kumimoji="1" lang="ja-JP" altLang="en-US" sz="2600" dirty="0"/>
              <a:t>を利用して就寝・起床を検出</a:t>
            </a:r>
            <a:br>
              <a:rPr kumimoji="1" lang="en-US" altLang="ja-JP" sz="2600" dirty="0"/>
            </a:br>
            <a:endParaRPr lang="en-US" altLang="ja-JP" sz="2600" dirty="0"/>
          </a:p>
          <a:p>
            <a:r>
              <a:rPr lang="en-US" altLang="ja-JP" sz="2600" dirty="0"/>
              <a:t>Nature</a:t>
            </a:r>
            <a:r>
              <a:rPr lang="ja-JP" altLang="en-US" sz="2600" dirty="0"/>
              <a:t> </a:t>
            </a:r>
            <a:r>
              <a:rPr lang="en-US" altLang="ja-JP" sz="2600" dirty="0"/>
              <a:t>Remo 3 </a:t>
            </a:r>
            <a:r>
              <a:rPr lang="ja-JP" altLang="en-US" sz="2600" dirty="0"/>
              <a:t>の</a:t>
            </a:r>
            <a:r>
              <a:rPr lang="ja-JP" altLang="en-US" sz="2600" b="1" dirty="0">
                <a:solidFill>
                  <a:srgbClr val="C00000"/>
                </a:solidFill>
              </a:rPr>
              <a:t>照度センサ</a:t>
            </a:r>
            <a:r>
              <a:rPr lang="ja-JP" altLang="en-US" sz="2600" dirty="0"/>
              <a:t>を利用して消灯・点灯を検出</a:t>
            </a:r>
            <a:br>
              <a:rPr lang="en-US" altLang="ja-JP" sz="2600" dirty="0"/>
            </a:br>
            <a:endParaRPr lang="en-US" altLang="ja-JP" sz="2600" dirty="0"/>
          </a:p>
          <a:p>
            <a:r>
              <a:rPr kumimoji="1" lang="en-US" altLang="ja-JP" sz="2600" dirty="0" err="1"/>
              <a:t>MacroDroid</a:t>
            </a:r>
            <a:r>
              <a:rPr kumimoji="1" lang="en-US" altLang="ja-JP" sz="2600" dirty="0"/>
              <a:t> </a:t>
            </a:r>
            <a:r>
              <a:rPr kumimoji="1" lang="ja-JP" altLang="en-US" sz="2600" dirty="0"/>
              <a:t>を利用して，</a:t>
            </a:r>
            <a:r>
              <a:rPr lang="ja-JP" altLang="en-US" sz="2600" b="1" dirty="0">
                <a:solidFill>
                  <a:srgbClr val="C00000"/>
                </a:solidFill>
              </a:rPr>
              <a:t>スマホ充電開始</a:t>
            </a:r>
            <a:r>
              <a:rPr lang="ja-JP" altLang="en-US" sz="2600" dirty="0"/>
              <a:t>と</a:t>
            </a:r>
            <a:r>
              <a:rPr lang="ja-JP" altLang="en-US" sz="2600" b="1" dirty="0">
                <a:solidFill>
                  <a:srgbClr val="C00000"/>
                </a:solidFill>
              </a:rPr>
              <a:t>スクリーン消灯</a:t>
            </a:r>
            <a:r>
              <a:rPr lang="ja-JP" altLang="en-US" sz="2600" dirty="0"/>
              <a:t>を検出</a:t>
            </a:r>
            <a:br>
              <a:rPr lang="en-US" altLang="ja-JP" sz="2600" dirty="0"/>
            </a:br>
            <a:endParaRPr lang="en-US" altLang="ja-JP" sz="2600" dirty="0"/>
          </a:p>
          <a:p>
            <a:r>
              <a:rPr lang="en-US" altLang="ja-JP" sz="2600" dirty="0"/>
              <a:t>Google </a:t>
            </a:r>
            <a:r>
              <a:rPr lang="ja-JP" altLang="en-US" sz="2600" dirty="0"/>
              <a:t>スプレッドシートへ自動記録</a:t>
            </a:r>
            <a:br>
              <a:rPr lang="en-US" altLang="ja-JP" sz="2600" dirty="0"/>
            </a:br>
            <a:endParaRPr lang="en-US" altLang="ja-JP" sz="2600" dirty="0"/>
          </a:p>
          <a:p>
            <a:r>
              <a:rPr lang="en-US" altLang="ja-JP" sz="2600" dirty="0"/>
              <a:t>AI </a:t>
            </a:r>
            <a:r>
              <a:rPr lang="ja-JP" altLang="en-US" sz="2600" dirty="0"/>
              <a:t>が睡眠データを分析し就寝時刻を提案</a:t>
            </a:r>
            <a:endParaRPr kumimoji="1" lang="en-US" altLang="ja-JP" sz="2600" dirty="0"/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8398B615-26AE-A55E-B044-4EF8CCF37C4F}"/>
              </a:ext>
            </a:extLst>
          </p:cNvPr>
          <p:cNvSpPr/>
          <p:nvPr/>
        </p:nvSpPr>
        <p:spPr>
          <a:xfrm>
            <a:off x="555710" y="1257975"/>
            <a:ext cx="4083433" cy="567649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416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550D864-7226-AAFE-9541-71191384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b="1" dirty="0"/>
              <a:t>要求仕様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A7B791-4B6C-1DA6-22CE-A2DACD264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ja-JP" altLang="en-US" sz="2600" dirty="0"/>
              <a:t>ユーザは毎日の</a:t>
            </a:r>
            <a:r>
              <a:rPr kumimoji="1" lang="ja-JP" altLang="en-US" sz="2600" b="1" dirty="0">
                <a:solidFill>
                  <a:srgbClr val="C00000"/>
                </a:solidFill>
              </a:rPr>
              <a:t>就寝時刻・起床時刻</a:t>
            </a:r>
            <a:r>
              <a:rPr kumimoji="1" lang="ja-JP" altLang="en-US" sz="2600" dirty="0"/>
              <a:t>を確認できること</a:t>
            </a:r>
            <a:br>
              <a:rPr lang="en-US" altLang="ja-JP" sz="2600" dirty="0"/>
            </a:br>
            <a:endParaRPr lang="en-US" altLang="ja-JP" sz="2600" dirty="0"/>
          </a:p>
          <a:p>
            <a:r>
              <a:rPr kumimoji="1" lang="ja-JP" altLang="en-US" sz="2600" dirty="0"/>
              <a:t>ユーザは睡眠時間の推移を確認できること</a:t>
            </a:r>
            <a:br>
              <a:rPr kumimoji="1" lang="en-US" altLang="ja-JP" sz="2600" dirty="0"/>
            </a:br>
            <a:endParaRPr kumimoji="1" lang="en-US" altLang="ja-JP" sz="2600" dirty="0"/>
          </a:p>
          <a:p>
            <a:r>
              <a:rPr lang="ja-JP" altLang="en-US" sz="2600" dirty="0"/>
              <a:t>ユーザは </a:t>
            </a:r>
            <a:r>
              <a:rPr lang="en-US" altLang="ja-JP" sz="2600" dirty="0"/>
              <a:t>Google </a:t>
            </a:r>
            <a:r>
              <a:rPr lang="ja-JP" altLang="en-US" sz="2600" dirty="0"/>
              <a:t>スプレッドシート上で睡眠履歴を閲覧できること</a:t>
            </a:r>
            <a:br>
              <a:rPr lang="en-US" altLang="ja-JP" sz="2600" dirty="0"/>
            </a:br>
            <a:endParaRPr lang="en-US" altLang="ja-JP" sz="2600" dirty="0"/>
          </a:p>
          <a:p>
            <a:r>
              <a:rPr kumimoji="1" lang="ja-JP" altLang="en-US" sz="2600" dirty="0"/>
              <a:t>ユーザは睡眠傾向の分析結果を確認できること</a:t>
            </a:r>
            <a:br>
              <a:rPr kumimoji="1" lang="en-US" altLang="ja-JP" sz="2600" dirty="0"/>
            </a:br>
            <a:endParaRPr kumimoji="1" lang="en-US" altLang="ja-JP" sz="2600" dirty="0"/>
          </a:p>
          <a:p>
            <a:r>
              <a:rPr kumimoji="1" lang="ja-JP" altLang="en-US" sz="2600" dirty="0"/>
              <a:t>ユーザは翌日の予定に応じた就寝推奨時刻を受け取れること</a:t>
            </a:r>
            <a:br>
              <a:rPr kumimoji="1" lang="en-US" altLang="ja-JP" sz="2600" dirty="0"/>
            </a:br>
            <a:endParaRPr kumimoji="1" lang="en-US" altLang="ja-JP" sz="2600" dirty="0"/>
          </a:p>
          <a:p>
            <a:endParaRPr kumimoji="1" lang="en-US" altLang="ja-JP" sz="2600" dirty="0"/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9524F767-EC57-0D08-C2FC-C5F0B69EF45E}"/>
              </a:ext>
            </a:extLst>
          </p:cNvPr>
          <p:cNvSpPr/>
          <p:nvPr/>
        </p:nvSpPr>
        <p:spPr>
          <a:xfrm>
            <a:off x="555710" y="1280159"/>
            <a:ext cx="3843570" cy="410529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32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E79BB3A-E95E-D2DA-843E-AE23661B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b="1" dirty="0"/>
              <a:t>想定する利用者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A22A43-A06D-125F-CAB2-D3C506848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大学生</a:t>
            </a:r>
            <a:endParaRPr kumimoji="1" lang="en-US" altLang="ja-JP" dirty="0"/>
          </a:p>
          <a:p>
            <a:r>
              <a:rPr lang="ja-JP" altLang="en-US" dirty="0"/>
              <a:t>社会人</a:t>
            </a:r>
            <a:br>
              <a:rPr kumimoji="1" lang="en-US" altLang="ja-JP" dirty="0"/>
            </a:br>
            <a:br>
              <a:rPr kumimoji="1" lang="en-US" altLang="ja-JP" dirty="0"/>
            </a:br>
            <a:r>
              <a:rPr kumimoji="1" lang="ja-JP" altLang="en-US" dirty="0"/>
              <a:t>特に</a:t>
            </a:r>
            <a:r>
              <a:rPr lang="en-US" altLang="ja-JP" dirty="0"/>
              <a:t>…</a:t>
            </a:r>
          </a:p>
          <a:p>
            <a:r>
              <a:rPr kumimoji="1" lang="ja-JP" altLang="en-US" dirty="0"/>
              <a:t>就寝時刻が不規則な人</a:t>
            </a:r>
            <a:endParaRPr kumimoji="1" lang="en-US" altLang="ja-JP" dirty="0"/>
          </a:p>
          <a:p>
            <a:r>
              <a:rPr lang="ja-JP" altLang="en-US" dirty="0"/>
              <a:t>睡眠不足を改善したい人</a:t>
            </a:r>
            <a:endParaRPr lang="en-US" altLang="ja-JP" dirty="0"/>
          </a:p>
          <a:p>
            <a:r>
              <a:rPr kumimoji="1" lang="ja-JP" altLang="en-US" dirty="0"/>
              <a:t>授業や仕事に合わせて生活リズムを整えたい人</a:t>
            </a:r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ACB23B6E-CB4C-94AF-D840-2F19F0E7D588}"/>
              </a:ext>
            </a:extLst>
          </p:cNvPr>
          <p:cNvSpPr/>
          <p:nvPr/>
        </p:nvSpPr>
        <p:spPr>
          <a:xfrm>
            <a:off x="555710" y="1257975"/>
            <a:ext cx="5801360" cy="667806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6" name="図 5" descr="寝不足・夜更かしの男性のイラスト | かわいいフリー素材集 いらすとや">
            <a:extLst>
              <a:ext uri="{FF2B5EF4-FFF2-40B4-BE49-F238E27FC236}">
                <a16:creationId xmlns:a16="http://schemas.microsoft.com/office/drawing/2014/main" id="{7F24C4CE-9BE8-614D-A673-306DEC0F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13" y="1312119"/>
            <a:ext cx="3561715" cy="291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35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0E2FD6-D29D-D546-E8A5-686350F10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467" y="1383527"/>
            <a:ext cx="6117158" cy="4175166"/>
          </a:xfrm>
        </p:spPr>
        <p:txBody>
          <a:bodyPr anchor="ctr">
            <a:normAutofit/>
          </a:bodyPr>
          <a:lstStyle/>
          <a:p>
            <a:pPr algn="r"/>
            <a:r>
              <a:rPr kumimoji="1" lang="ja-JP" altLang="en-US" sz="9600" b="1" dirty="0"/>
              <a:t>設計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A8FACF5-E598-3719-E628-B70B41A2E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6955" y="2573422"/>
            <a:ext cx="3113064" cy="1795378"/>
          </a:xfrm>
        </p:spPr>
        <p:txBody>
          <a:bodyPr anchor="ctr">
            <a:normAutofit/>
          </a:bodyPr>
          <a:lstStyle/>
          <a:p>
            <a:pPr algn="l"/>
            <a:endParaRPr kumimoji="1" lang="ja-JP" alt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58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088EA85-1391-6989-8779-D0427F7B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b="1" dirty="0"/>
              <a:t>システム構成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984331-6DCA-CF10-7372-DBEE7E2BE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使用機器</a:t>
            </a:r>
            <a:br>
              <a:rPr kumimoji="1" lang="en-US" altLang="ja-JP" dirty="0"/>
            </a:br>
            <a:br>
              <a:rPr kumimoji="1" lang="en-US" altLang="ja-JP" dirty="0"/>
            </a:br>
            <a:r>
              <a:rPr kumimoji="1" lang="en-US" altLang="ja-JP" dirty="0"/>
              <a:t>Nature</a:t>
            </a:r>
            <a:r>
              <a:rPr lang="ja-JP" altLang="en-US" dirty="0"/>
              <a:t> </a:t>
            </a:r>
            <a:r>
              <a:rPr lang="en-US" altLang="ja-JP" dirty="0"/>
              <a:t>Remo</a:t>
            </a:r>
            <a:r>
              <a:rPr lang="ja-JP" altLang="en-US" dirty="0"/>
              <a:t> </a:t>
            </a:r>
            <a:r>
              <a:rPr lang="en-US" altLang="ja-JP" dirty="0"/>
              <a:t>3</a:t>
            </a:r>
            <a:br>
              <a:rPr lang="en-US" altLang="ja-JP" dirty="0"/>
            </a:br>
            <a:r>
              <a:rPr lang="en-US" altLang="ja-JP" dirty="0"/>
              <a:t>Android </a:t>
            </a:r>
            <a:r>
              <a:rPr lang="ja-JP" altLang="en-US" dirty="0"/>
              <a:t>スマートフォン</a:t>
            </a:r>
            <a:br>
              <a:rPr lang="en-US" altLang="ja-JP" dirty="0"/>
            </a:br>
            <a:r>
              <a:rPr lang="en-US" altLang="ja-JP" dirty="0"/>
              <a:t>Google Spreadsheet</a:t>
            </a:r>
            <a:br>
              <a:rPr lang="en-US" altLang="ja-JP" dirty="0"/>
            </a:br>
            <a:r>
              <a:rPr lang="en-US" altLang="ja-JP" dirty="0" err="1"/>
              <a:t>MacroDroid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ja-JP" altLang="en-US" dirty="0"/>
              <a:t>開発言語</a:t>
            </a:r>
            <a:br>
              <a:rPr kumimoji="1" lang="en-US" altLang="ja-JP" dirty="0"/>
            </a:br>
            <a:br>
              <a:rPr kumimoji="1" lang="en-US" altLang="ja-JP" dirty="0"/>
            </a:br>
            <a:r>
              <a:rPr kumimoji="1" lang="en-US" altLang="ja-JP" dirty="0"/>
              <a:t>JavaScript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58187B14-372E-E8C4-C1B3-149A68C4CD11}"/>
              </a:ext>
            </a:extLst>
          </p:cNvPr>
          <p:cNvSpPr/>
          <p:nvPr/>
        </p:nvSpPr>
        <p:spPr>
          <a:xfrm>
            <a:off x="861010" y="1221373"/>
            <a:ext cx="5801360" cy="667806"/>
          </a:xfrm>
          <a:prstGeom prst="circularArrow">
            <a:avLst>
              <a:gd name="adj1" fmla="val 12500"/>
              <a:gd name="adj2" fmla="val 365626"/>
              <a:gd name="adj3" fmla="val 20457681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49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A1A78-61E1-1193-5A63-831689F5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システム処理の流れ</a:t>
            </a:r>
          </a:p>
        </p:txBody>
      </p:sp>
      <p:pic>
        <p:nvPicPr>
          <p:cNvPr id="4" name="コンテンツ プレースホルダー 3" descr="Nature Remo 3">
            <a:extLst>
              <a:ext uri="{FF2B5EF4-FFF2-40B4-BE49-F238E27FC236}">
                <a16:creationId xmlns:a16="http://schemas.microsoft.com/office/drawing/2014/main" id="{804C87F0-A57E-3360-9E48-59447A09C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3317" y="4084479"/>
            <a:ext cx="2266949" cy="2266949"/>
          </a:xfrm>
          <a:prstGeom prst="rect">
            <a:avLst/>
          </a:prstGeom>
        </p:spPr>
      </p:pic>
      <p:pic>
        <p:nvPicPr>
          <p:cNvPr id="5" name="図 4" descr="スマートフォンのイラスト | 商用OKの無料イラスト素材サイト ツカッテ">
            <a:extLst>
              <a:ext uri="{FF2B5EF4-FFF2-40B4-BE49-F238E27FC236}">
                <a16:creationId xmlns:a16="http://schemas.microsoft.com/office/drawing/2014/main" id="{1DD8B482-40C1-DE9F-BE98-7C391F67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238" y="1005630"/>
            <a:ext cx="2308066" cy="2308066"/>
          </a:xfrm>
          <a:prstGeom prst="rect">
            <a:avLst/>
          </a:prstGeom>
        </p:spPr>
      </p:pic>
      <p:pic>
        <p:nvPicPr>
          <p:cNvPr id="6" name="図 5" descr="消灯手描きイラスト｜無料イラスト・フリー素材なら「イラストAC」">
            <a:extLst>
              <a:ext uri="{FF2B5EF4-FFF2-40B4-BE49-F238E27FC236}">
                <a16:creationId xmlns:a16="http://schemas.microsoft.com/office/drawing/2014/main" id="{35F4CE1E-593C-6236-600F-64A1176E4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20" y="4084479"/>
            <a:ext cx="2466975" cy="1847850"/>
          </a:xfrm>
          <a:prstGeom prst="rect">
            <a:avLst/>
          </a:prstGeom>
        </p:spPr>
      </p:pic>
      <p:pic>
        <p:nvPicPr>
          <p:cNvPr id="7" name="図 6" descr="寝る男性のイラスト｜商用可・フリーイラスト素材｜ソコスト">
            <a:extLst>
              <a:ext uri="{FF2B5EF4-FFF2-40B4-BE49-F238E27FC236}">
                <a16:creationId xmlns:a16="http://schemas.microsoft.com/office/drawing/2014/main" id="{4A52DDDC-7EF5-B7A3-ECEC-CF2904185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8805" y="4084479"/>
            <a:ext cx="2266950" cy="2019300"/>
          </a:xfrm>
          <a:prstGeom prst="rect">
            <a:avLst/>
          </a:prstGeom>
        </p:spPr>
      </p:pic>
      <p:pic>
        <p:nvPicPr>
          <p:cNvPr id="8" name="図 7" descr="Googleスプレッドシートの機能紹介！少しの工夫で時短・見やすく！ | カルテットコミュニケーションズ">
            <a:extLst>
              <a:ext uri="{FF2B5EF4-FFF2-40B4-BE49-F238E27FC236}">
                <a16:creationId xmlns:a16="http://schemas.microsoft.com/office/drawing/2014/main" id="{DBFFCB4C-85D4-7849-912E-822DE361F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2688" y="1513800"/>
            <a:ext cx="1817961" cy="1455817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D438009F-EB5A-F44E-9285-FA399848E491}"/>
              </a:ext>
            </a:extLst>
          </p:cNvPr>
          <p:cNvSpPr/>
          <p:nvPr/>
        </p:nvSpPr>
        <p:spPr>
          <a:xfrm>
            <a:off x="2712720" y="5337048"/>
            <a:ext cx="1509446" cy="24079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2B185DB-4DF5-4DF9-6DFC-472F46EBB58D}"/>
              </a:ext>
            </a:extLst>
          </p:cNvPr>
          <p:cNvSpPr txBox="1"/>
          <p:nvPr/>
        </p:nvSpPr>
        <p:spPr>
          <a:xfrm>
            <a:off x="2284778" y="5704364"/>
            <a:ext cx="2466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照明の点灯・消灯を</a:t>
            </a:r>
            <a:r>
              <a:rPr kumimoji="1" lang="en-US" altLang="ja-JP" sz="1400" dirty="0"/>
              <a:t>Remo 3 </a:t>
            </a:r>
            <a:r>
              <a:rPr kumimoji="1" lang="ja-JP" altLang="en-US" sz="1400" dirty="0"/>
              <a:t>の照度センサで検知</a:t>
            </a:r>
          </a:p>
        </p:txBody>
      </p:sp>
      <p:sp>
        <p:nvSpPr>
          <p:cNvPr id="16" name="フレーム 15">
            <a:extLst>
              <a:ext uri="{FF2B5EF4-FFF2-40B4-BE49-F238E27FC236}">
                <a16:creationId xmlns:a16="http://schemas.microsoft.com/office/drawing/2014/main" id="{B63725B2-3BC9-2E26-C596-C685D01453D7}"/>
              </a:ext>
            </a:extLst>
          </p:cNvPr>
          <p:cNvSpPr/>
          <p:nvPr/>
        </p:nvSpPr>
        <p:spPr>
          <a:xfrm>
            <a:off x="7349693" y="1482645"/>
            <a:ext cx="1696041" cy="1518126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004D4F1-3659-551E-534C-5A17936E00B3}"/>
              </a:ext>
            </a:extLst>
          </p:cNvPr>
          <p:cNvSpPr txBox="1"/>
          <p:nvPr/>
        </p:nvSpPr>
        <p:spPr>
          <a:xfrm>
            <a:off x="7593193" y="1823380"/>
            <a:ext cx="1310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MacroDroid</a:t>
            </a:r>
            <a:r>
              <a:rPr kumimoji="1" lang="en-US" altLang="ja-JP" sz="1200" b="1" dirty="0"/>
              <a:t> </a:t>
            </a:r>
            <a:r>
              <a:rPr lang="ja-JP" altLang="en-US" sz="1200" b="1" dirty="0"/>
              <a:t>の記録をスプレッドシートに書き込む</a:t>
            </a:r>
            <a:r>
              <a:rPr kumimoji="1" lang="ja-JP" altLang="en-US" sz="1200" b="1" dirty="0"/>
              <a:t>プログラム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43995B27-73B5-1BFD-99E3-3B60F5071F10}"/>
              </a:ext>
            </a:extLst>
          </p:cNvPr>
          <p:cNvSpPr/>
          <p:nvPr/>
        </p:nvSpPr>
        <p:spPr>
          <a:xfrm rot="10800000">
            <a:off x="7034812" y="5457444"/>
            <a:ext cx="1509446" cy="24079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7F6C457-9B74-857C-3B79-80AAE9775629}"/>
              </a:ext>
            </a:extLst>
          </p:cNvPr>
          <p:cNvSpPr txBox="1"/>
          <p:nvPr/>
        </p:nvSpPr>
        <p:spPr>
          <a:xfrm>
            <a:off x="6355239" y="5754211"/>
            <a:ext cx="27684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所定の場所から人がいなくなったことを</a:t>
            </a:r>
            <a:r>
              <a:rPr kumimoji="1" lang="ja-JP" altLang="en-US" sz="1400" dirty="0"/>
              <a:t>を</a:t>
            </a:r>
            <a:r>
              <a:rPr kumimoji="1" lang="en-US" altLang="ja-JP" sz="1400" dirty="0"/>
              <a:t>Remo 3 </a:t>
            </a:r>
            <a:r>
              <a:rPr kumimoji="1" lang="ja-JP" altLang="en-US" sz="1400" dirty="0"/>
              <a:t>の人感センサで検知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4228633B-EF0F-4531-79EE-97909702DE04}"/>
              </a:ext>
            </a:extLst>
          </p:cNvPr>
          <p:cNvSpPr/>
          <p:nvPr/>
        </p:nvSpPr>
        <p:spPr>
          <a:xfrm rot="16200000">
            <a:off x="4094973" y="3422571"/>
            <a:ext cx="881946" cy="20895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8F1CF5B1-AC08-1EF6-F8A8-3E4206A4E764}"/>
              </a:ext>
            </a:extLst>
          </p:cNvPr>
          <p:cNvSpPr/>
          <p:nvPr/>
        </p:nvSpPr>
        <p:spPr>
          <a:xfrm rot="16200000">
            <a:off x="5475200" y="3422571"/>
            <a:ext cx="881946" cy="20895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5F3DB1D-6F82-E613-A0DC-1055A786A423}"/>
              </a:ext>
            </a:extLst>
          </p:cNvPr>
          <p:cNvSpPr txBox="1"/>
          <p:nvPr/>
        </p:nvSpPr>
        <p:spPr>
          <a:xfrm>
            <a:off x="1955301" y="3236387"/>
            <a:ext cx="2466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照明の点灯・消灯時刻を</a:t>
            </a:r>
            <a:r>
              <a:rPr lang="ja-JP" altLang="en-US" sz="1400" dirty="0"/>
              <a:t>スプレッドシートに記録</a:t>
            </a:r>
            <a:endParaRPr kumimoji="1" lang="ja-JP" altLang="en-US" sz="14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E95CA37-328A-5401-F827-1443C9A90E26}"/>
              </a:ext>
            </a:extLst>
          </p:cNvPr>
          <p:cNvSpPr txBox="1"/>
          <p:nvPr/>
        </p:nvSpPr>
        <p:spPr>
          <a:xfrm>
            <a:off x="6096000" y="3281015"/>
            <a:ext cx="2466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人感センサの検知時刻をスプレッドシートに記録</a:t>
            </a: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FF428D46-E47B-BF2D-604B-9751E23F1B6A}"/>
              </a:ext>
            </a:extLst>
          </p:cNvPr>
          <p:cNvSpPr/>
          <p:nvPr/>
        </p:nvSpPr>
        <p:spPr>
          <a:xfrm rot="10800000">
            <a:off x="9239861" y="1627894"/>
            <a:ext cx="1129136" cy="25828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1DFFCF3-5209-148E-1622-0915734B1919}"/>
              </a:ext>
            </a:extLst>
          </p:cNvPr>
          <p:cNvSpPr txBox="1"/>
          <p:nvPr/>
        </p:nvSpPr>
        <p:spPr>
          <a:xfrm>
            <a:off x="9073050" y="1988218"/>
            <a:ext cx="14743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充電時にスマホのスクリーンがオンまたはオフになったことを検出</a:t>
            </a:r>
            <a:endParaRPr kumimoji="1" lang="ja-JP" altLang="en-US" sz="1400" dirty="0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B9D378DC-A110-2784-C019-85394467837E}"/>
              </a:ext>
            </a:extLst>
          </p:cNvPr>
          <p:cNvSpPr/>
          <p:nvPr/>
        </p:nvSpPr>
        <p:spPr>
          <a:xfrm rot="10800000">
            <a:off x="6158482" y="1627806"/>
            <a:ext cx="1129136" cy="25828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C9409F0-2D91-1B58-7BA0-5E0D7A888246}"/>
              </a:ext>
            </a:extLst>
          </p:cNvPr>
          <p:cNvSpPr txBox="1"/>
          <p:nvPr/>
        </p:nvSpPr>
        <p:spPr>
          <a:xfrm>
            <a:off x="6047965" y="1989241"/>
            <a:ext cx="11871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/>
              <a:t>MacroDroid</a:t>
            </a:r>
            <a:r>
              <a:rPr kumimoji="1" lang="en-US" altLang="ja-JP" sz="1400" dirty="0"/>
              <a:t> </a:t>
            </a:r>
            <a:r>
              <a:rPr kumimoji="1" lang="ja-JP" altLang="en-US" sz="1400" dirty="0"/>
              <a:t>で検出した時刻を記録</a:t>
            </a:r>
          </a:p>
        </p:txBody>
      </p:sp>
      <p:sp>
        <p:nvSpPr>
          <p:cNvPr id="34" name="矢印: 環状 33">
            <a:extLst>
              <a:ext uri="{FF2B5EF4-FFF2-40B4-BE49-F238E27FC236}">
                <a16:creationId xmlns:a16="http://schemas.microsoft.com/office/drawing/2014/main" id="{C15A0659-9766-19C0-8B61-990B6E1526D3}"/>
              </a:ext>
            </a:extLst>
          </p:cNvPr>
          <p:cNvSpPr/>
          <p:nvPr/>
        </p:nvSpPr>
        <p:spPr>
          <a:xfrm>
            <a:off x="861010" y="1221373"/>
            <a:ext cx="5801360" cy="667806"/>
          </a:xfrm>
          <a:prstGeom prst="circularArrow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028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72B468-F955-83D1-5884-DB93BE99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データ保存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D03AE9-3318-F2C5-F6E8-409FEC11C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Google </a:t>
            </a:r>
            <a:r>
              <a:rPr kumimoji="1" lang="ja-JP" altLang="en-US" dirty="0"/>
              <a:t>スプレッドシートへの保存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645DAFF-A98E-DA1B-870B-80304EB2C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541751"/>
              </p:ext>
            </p:extLst>
          </p:nvPr>
        </p:nvGraphicFramePr>
        <p:xfrm>
          <a:off x="2032000" y="2581123"/>
          <a:ext cx="8128000" cy="11125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79849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05322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846705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64242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就寝時刻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起床時刻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睡眠時間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510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6/15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00:42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07:20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6.6h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17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6/16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01:05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08:01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6.9h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124447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99CF4C-CBB9-3F33-B5CC-4BEC9781DEF3}"/>
              </a:ext>
            </a:extLst>
          </p:cNvPr>
          <p:cNvSpPr txBox="1"/>
          <p:nvPr/>
        </p:nvSpPr>
        <p:spPr>
          <a:xfrm>
            <a:off x="1143000" y="4001294"/>
            <a:ext cx="812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記録項目</a:t>
            </a:r>
            <a:endParaRPr lang="en-US" altLang="ja-JP" sz="2400" dirty="0"/>
          </a:p>
          <a:p>
            <a:r>
              <a:rPr lang="ja-JP" altLang="en-US" sz="2400" dirty="0"/>
              <a:t>・日付</a:t>
            </a:r>
            <a:endParaRPr lang="en-US" altLang="ja-JP" sz="2400" dirty="0"/>
          </a:p>
          <a:p>
            <a:r>
              <a:rPr kumimoji="1" lang="ja-JP" altLang="en-US" sz="2400" dirty="0"/>
              <a:t>・就寝時刻</a:t>
            </a:r>
            <a:endParaRPr kumimoji="1" lang="en-US" altLang="ja-JP" sz="2400" dirty="0"/>
          </a:p>
          <a:p>
            <a:r>
              <a:rPr lang="ja-JP" altLang="en-US" sz="2400" dirty="0"/>
              <a:t>・起床時刻</a:t>
            </a:r>
            <a:endParaRPr lang="en-US" altLang="ja-JP" sz="2400" dirty="0"/>
          </a:p>
          <a:p>
            <a:r>
              <a:rPr kumimoji="1" lang="ja-JP" altLang="en-US" sz="2400" dirty="0"/>
              <a:t>・睡眠時間</a:t>
            </a:r>
            <a:endParaRPr kumimoji="1" lang="en-US" altLang="ja-JP" sz="2400" dirty="0"/>
          </a:p>
          <a:p>
            <a:r>
              <a:rPr lang="ja-JP" altLang="en-US" sz="2400" dirty="0"/>
              <a:t>・消灯時刻　など</a:t>
            </a:r>
            <a:endParaRPr kumimoji="1"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34D737-C457-2C49-618D-5B1D78B9CE22}"/>
              </a:ext>
            </a:extLst>
          </p:cNvPr>
          <p:cNvSpPr txBox="1"/>
          <p:nvPr/>
        </p:nvSpPr>
        <p:spPr>
          <a:xfrm>
            <a:off x="1143000" y="2581123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(ex)</a:t>
            </a:r>
            <a:endParaRPr kumimoji="1" lang="ja-JP" altLang="en-US" sz="2800" dirty="0"/>
          </a:p>
        </p:txBody>
      </p:sp>
      <p:sp>
        <p:nvSpPr>
          <p:cNvPr id="7" name="矢印: 環状 6">
            <a:extLst>
              <a:ext uri="{FF2B5EF4-FFF2-40B4-BE49-F238E27FC236}">
                <a16:creationId xmlns:a16="http://schemas.microsoft.com/office/drawing/2014/main" id="{E9A5358E-FFC7-8CA4-D7DA-4F9A6ECDBFBC}"/>
              </a:ext>
            </a:extLst>
          </p:cNvPr>
          <p:cNvSpPr/>
          <p:nvPr/>
        </p:nvSpPr>
        <p:spPr>
          <a:xfrm>
            <a:off x="505410" y="1201665"/>
            <a:ext cx="5801360" cy="667806"/>
          </a:xfrm>
          <a:prstGeom prst="circularArrow">
            <a:avLst>
              <a:gd name="adj1" fmla="val 12500"/>
              <a:gd name="adj2" fmla="val 202327"/>
              <a:gd name="adj3" fmla="val 20457681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496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BC009F1-6AC1-284C-8FC3-D694BA0EA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b="1" dirty="0"/>
              <a:t>AI </a:t>
            </a:r>
            <a:r>
              <a:rPr kumimoji="1" lang="ja-JP" altLang="en-US" b="1" dirty="0"/>
              <a:t>分析機能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31ED8F-9E2D-3718-62BE-D60DC0203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睡眠傾向分析</a:t>
            </a:r>
            <a:br>
              <a:rPr kumimoji="1" lang="en-US" altLang="ja-JP" dirty="0"/>
            </a:br>
            <a:br>
              <a:rPr kumimoji="1" lang="en-US" altLang="ja-JP" dirty="0"/>
            </a:br>
            <a:r>
              <a:rPr kumimoji="1" lang="ja-JP" altLang="en-US" dirty="0"/>
              <a:t>平均睡眠時間</a:t>
            </a:r>
            <a:br>
              <a:rPr kumimoji="1" lang="en-US" altLang="ja-JP" dirty="0"/>
            </a:br>
            <a:r>
              <a:rPr kumimoji="1" lang="ja-JP" altLang="en-US" dirty="0"/>
              <a:t>曜日ごとの傾向</a:t>
            </a:r>
            <a:br>
              <a:rPr kumimoji="1" lang="en-US" altLang="ja-JP" dirty="0"/>
            </a:br>
            <a:r>
              <a:rPr kumimoji="1" lang="ja-JP" altLang="en-US" dirty="0"/>
              <a:t>就寝時刻のばらつき</a:t>
            </a:r>
            <a:br>
              <a:rPr kumimoji="1" lang="en-US" altLang="ja-JP" dirty="0"/>
            </a:br>
            <a:r>
              <a:rPr kumimoji="1" lang="ja-JP" altLang="en-US" dirty="0"/>
              <a:t>睡眠不足の日数</a:t>
            </a:r>
            <a:br>
              <a:rPr kumimoji="1" lang="en-US" altLang="ja-JP" dirty="0"/>
            </a:b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を分析し，</a:t>
            </a:r>
            <a:r>
              <a:rPr lang="en-US" altLang="ja-JP" dirty="0"/>
              <a:t>LINE</a:t>
            </a:r>
            <a:r>
              <a:rPr lang="ja-JP" altLang="en-US" dirty="0"/>
              <a:t> のメッセージなどで出力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59F7E965-FADA-17A3-F222-B88F06398C40}"/>
              </a:ext>
            </a:extLst>
          </p:cNvPr>
          <p:cNvSpPr/>
          <p:nvPr/>
        </p:nvSpPr>
        <p:spPr>
          <a:xfrm>
            <a:off x="555710" y="1257975"/>
            <a:ext cx="3386370" cy="567649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44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0E45907-D723-2C0C-798B-DA25A2EB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b="1" dirty="0"/>
              <a:t>必要なモジュール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4A55BA-40BD-B536-7850-A1F3DA12C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3400" y="2055812"/>
            <a:ext cx="5176520" cy="4351338"/>
          </a:xfrm>
        </p:spPr>
        <p:txBody>
          <a:bodyPr>
            <a:normAutofit fontScale="92500" lnSpcReduction="20000"/>
          </a:bodyPr>
          <a:lstStyle/>
          <a:p>
            <a:r>
              <a:rPr kumimoji="1" lang="ja-JP" altLang="en-US" sz="2400" dirty="0"/>
              <a:t>データ取得</a:t>
            </a:r>
            <a:br>
              <a:rPr kumimoji="1" lang="en-US" altLang="ja-JP" sz="2400" dirty="0"/>
            </a:br>
            <a:r>
              <a:rPr kumimoji="1" lang="en-US" altLang="ja-JP" sz="2400" dirty="0"/>
              <a:t>Remo API </a:t>
            </a:r>
            <a:r>
              <a:rPr kumimoji="1" lang="ja-JP" altLang="en-US" sz="2400" dirty="0"/>
              <a:t>接続プログラム</a:t>
            </a:r>
            <a:br>
              <a:rPr kumimoji="1" lang="en-US" altLang="ja-JP" sz="2400" dirty="0"/>
            </a:br>
            <a:endParaRPr kumimoji="1" lang="en-US" altLang="ja-JP" sz="2400" dirty="0"/>
          </a:p>
          <a:p>
            <a:r>
              <a:rPr lang="ja-JP" altLang="en-US" sz="2400" dirty="0"/>
              <a:t>データ管理</a:t>
            </a:r>
            <a:br>
              <a:rPr lang="en-US" altLang="ja-JP" sz="2400" dirty="0"/>
            </a:br>
            <a:r>
              <a:rPr lang="en-US" altLang="ja-JP" sz="2400" dirty="0"/>
              <a:t>Google Spreadsheet </a:t>
            </a:r>
            <a:r>
              <a:rPr lang="ja-JP" altLang="en-US" sz="2400" dirty="0"/>
              <a:t>管理プログラム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スマホ連携</a:t>
            </a:r>
            <a:br>
              <a:rPr lang="en-US" altLang="ja-JP" sz="2400" dirty="0"/>
            </a:br>
            <a:r>
              <a:rPr lang="en-US" altLang="ja-JP" sz="2400" dirty="0" err="1"/>
              <a:t>MacroDroid</a:t>
            </a:r>
            <a:r>
              <a:rPr lang="en-US" altLang="ja-JP" sz="2400" dirty="0"/>
              <a:t> </a:t>
            </a:r>
            <a:r>
              <a:rPr lang="ja-JP" altLang="en-US" sz="2400" dirty="0"/>
              <a:t>連携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分析</a:t>
            </a:r>
            <a:br>
              <a:rPr lang="en-US" altLang="ja-JP" sz="2400" dirty="0"/>
            </a:br>
            <a:r>
              <a:rPr lang="ja-JP" altLang="en-US" sz="2400" dirty="0"/>
              <a:t>睡眠分析プログラム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dirty="0"/>
              <a:t>AI </a:t>
            </a:r>
            <a:r>
              <a:rPr lang="ja-JP" altLang="en-US" sz="2400" dirty="0"/>
              <a:t>連携</a:t>
            </a:r>
            <a:br>
              <a:rPr lang="en-US" altLang="ja-JP" sz="2400" dirty="0"/>
            </a:br>
            <a:r>
              <a:rPr lang="ja-JP" altLang="en-US" sz="2400" dirty="0"/>
              <a:t>就寝時刻提案プログラム</a:t>
            </a:r>
            <a:endParaRPr lang="en-US" altLang="ja-JP" sz="2400" dirty="0"/>
          </a:p>
          <a:p>
            <a:endParaRPr kumimoji="1" lang="ja-JP" altLang="en-US" sz="1500" dirty="0"/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BC5591DA-A5DE-F87F-788F-63B843F1893B}"/>
              </a:ext>
            </a:extLst>
          </p:cNvPr>
          <p:cNvSpPr/>
          <p:nvPr/>
        </p:nvSpPr>
        <p:spPr>
          <a:xfrm>
            <a:off x="555710" y="1257975"/>
            <a:ext cx="5801360" cy="667806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2C33CD-95A5-9525-8D2C-0C47980DBC4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/>
          </a:p>
        </p:txBody>
      </p:sp>
      <p:pic>
        <p:nvPicPr>
          <p:cNvPr id="7" name="図 6" descr="MacroDroid - デバイス自動化 - Android用のAPKダウンロード | Aptoide">
            <a:extLst>
              <a:ext uri="{FF2B5EF4-FFF2-40B4-BE49-F238E27FC236}">
                <a16:creationId xmlns:a16="http://schemas.microsoft.com/office/drawing/2014/main" id="{B11F6F89-27A1-420C-1FC1-40F3699D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710" y="3613666"/>
            <a:ext cx="3176562" cy="155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06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ACBB04C-DBFE-9AE7-9C5E-962B7FA6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b="1" dirty="0"/>
              <a:t>工夫点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1C6516-10D6-85D5-BBF1-2D9C2018C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従来</a:t>
            </a:r>
            <a:br>
              <a:rPr kumimoji="1" lang="en-US" altLang="ja-JP" dirty="0"/>
            </a:br>
            <a:r>
              <a:rPr kumimoji="1" lang="ja-JP" altLang="en-US" dirty="0"/>
              <a:t>睡眠記録アプリは手動入力が多い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ja-JP" altLang="en-US" dirty="0"/>
              <a:t>本システム</a:t>
            </a:r>
            <a:br>
              <a:rPr lang="en-US" altLang="ja-JP" dirty="0"/>
            </a:br>
            <a:r>
              <a:rPr lang="ja-JP" altLang="en-US" dirty="0"/>
              <a:t>センサによる自動記録</a:t>
            </a:r>
            <a:br>
              <a:rPr lang="en-US" altLang="ja-JP" dirty="0"/>
            </a:br>
            <a:r>
              <a:rPr lang="en-US" altLang="ja-JP" dirty="0"/>
              <a:t>Google </a:t>
            </a:r>
            <a:r>
              <a:rPr lang="ja-JP" altLang="en-US" dirty="0"/>
              <a:t>スプレッドシートへの自動保存</a:t>
            </a:r>
            <a:br>
              <a:rPr lang="en-US" altLang="ja-JP" dirty="0"/>
            </a:br>
            <a:r>
              <a:rPr lang="en-US" altLang="ja-JP" dirty="0"/>
              <a:t>AI </a:t>
            </a:r>
            <a:r>
              <a:rPr lang="ja-JP" altLang="en-US" dirty="0"/>
              <a:t>による自動分析</a:t>
            </a:r>
            <a:br>
              <a:rPr lang="en-US" altLang="ja-JP" dirty="0"/>
            </a:br>
            <a:r>
              <a:rPr lang="ja-JP" altLang="en-US" dirty="0"/>
              <a:t>睡眠推奨時刻の提示</a:t>
            </a:r>
            <a:endParaRPr kumimoji="1" lang="en-US" altLang="ja-JP" dirty="0"/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F6FC12EA-C345-7FD9-5F16-4BB36215B6CC}"/>
              </a:ext>
            </a:extLst>
          </p:cNvPr>
          <p:cNvSpPr/>
          <p:nvPr/>
        </p:nvSpPr>
        <p:spPr>
          <a:xfrm>
            <a:off x="555710" y="1257975"/>
            <a:ext cx="2949490" cy="477957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848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DCB8A3-566F-695F-55B8-BAE606DC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開発体制</a:t>
            </a:r>
          </a:p>
        </p:txBody>
      </p:sp>
      <p:sp>
        <p:nvSpPr>
          <p:cNvPr id="4" name="矢印: 環状 3">
            <a:extLst>
              <a:ext uri="{FF2B5EF4-FFF2-40B4-BE49-F238E27FC236}">
                <a16:creationId xmlns:a16="http://schemas.microsoft.com/office/drawing/2014/main" id="{11FE5B10-031B-5576-736E-27BA8A77BD5C}"/>
              </a:ext>
            </a:extLst>
          </p:cNvPr>
          <p:cNvSpPr/>
          <p:nvPr/>
        </p:nvSpPr>
        <p:spPr>
          <a:xfrm>
            <a:off x="555710" y="1257975"/>
            <a:ext cx="3244130" cy="432713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A801233-8CE4-18CF-E20C-46C4CE257903}"/>
              </a:ext>
            </a:extLst>
          </p:cNvPr>
          <p:cNvSpPr/>
          <p:nvPr/>
        </p:nvSpPr>
        <p:spPr>
          <a:xfrm>
            <a:off x="5401047" y="3674690"/>
            <a:ext cx="3557006" cy="90524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発表資料責任者</a:t>
            </a:r>
            <a:endParaRPr kumimoji="1"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市木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8472072-AF03-E5CA-F469-F59B740F6122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956280" y="3429000"/>
            <a:ext cx="4389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318BBBF-3456-7DA8-7ABB-F70B1057B48E}"/>
              </a:ext>
            </a:extLst>
          </p:cNvPr>
          <p:cNvCxnSpPr>
            <a:cxnSpLocks/>
          </p:cNvCxnSpPr>
          <p:nvPr/>
        </p:nvCxnSpPr>
        <p:spPr>
          <a:xfrm>
            <a:off x="4395216" y="1380579"/>
            <a:ext cx="0" cy="4123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63498F2-4F21-A7CD-AD19-DB82C78EDBFB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395207" y="4115341"/>
            <a:ext cx="1005840" cy="11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251818C-4B4C-EAEF-D654-18B2A19C2323}"/>
              </a:ext>
            </a:extLst>
          </p:cNvPr>
          <p:cNvCxnSpPr/>
          <p:nvPr/>
        </p:nvCxnSpPr>
        <p:spPr>
          <a:xfrm flipH="1">
            <a:off x="4395216" y="1380580"/>
            <a:ext cx="1005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8B091D-2E9E-7CD5-9CBD-A7CCA233172E}"/>
              </a:ext>
            </a:extLst>
          </p:cNvPr>
          <p:cNvSpPr txBox="1"/>
          <p:nvPr/>
        </p:nvSpPr>
        <p:spPr>
          <a:xfrm>
            <a:off x="9068913" y="1057413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・要求書，設計書，プロ</a:t>
            </a:r>
          </a:p>
          <a:p>
            <a:r>
              <a:rPr lang="ja-JP" altLang="en-US" dirty="0"/>
              <a:t>ジェクト計画書の管理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86D4BF-C4AA-D5CE-D3F8-A3AA88CBD753}"/>
              </a:ext>
            </a:extLst>
          </p:cNvPr>
          <p:cNvSpPr txBox="1"/>
          <p:nvPr/>
        </p:nvSpPr>
        <p:spPr>
          <a:xfrm>
            <a:off x="9073473" y="255246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・各モジュールの管理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8F1E594-B8F5-F84A-0DE3-96338CA4F8A7}"/>
              </a:ext>
            </a:extLst>
          </p:cNvPr>
          <p:cNvSpPr txBox="1"/>
          <p:nvPr/>
        </p:nvSpPr>
        <p:spPr>
          <a:xfrm>
            <a:off x="9068913" y="380414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・中間発表，成果発表資料</a:t>
            </a:r>
          </a:p>
          <a:p>
            <a:r>
              <a:rPr lang="ja-JP" altLang="en-US" dirty="0"/>
              <a:t>の管理</a:t>
            </a:r>
            <a:endParaRPr kumimoji="1" lang="ja-JP" altLang="en-US" dirty="0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76A48D1-92D8-6B89-C627-16C143D5B6A1}"/>
              </a:ext>
            </a:extLst>
          </p:cNvPr>
          <p:cNvSpPr/>
          <p:nvPr/>
        </p:nvSpPr>
        <p:spPr>
          <a:xfrm>
            <a:off x="399270" y="2976375"/>
            <a:ext cx="3557010" cy="90524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リーダー</a:t>
            </a:r>
            <a:endParaRPr kumimoji="1"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市木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533B1209-FC8A-8E2B-9D00-31017DB9A2DB}"/>
              </a:ext>
            </a:extLst>
          </p:cNvPr>
          <p:cNvSpPr/>
          <p:nvPr/>
        </p:nvSpPr>
        <p:spPr>
          <a:xfrm>
            <a:off x="5401047" y="927955"/>
            <a:ext cx="3557015" cy="90524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開発文書文書責任者</a:t>
            </a:r>
            <a:endParaRPr kumimoji="1"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段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53B8819C-13A9-A527-799F-2D92224B1A91}"/>
              </a:ext>
            </a:extLst>
          </p:cNvPr>
          <p:cNvSpPr/>
          <p:nvPr/>
        </p:nvSpPr>
        <p:spPr>
          <a:xfrm>
            <a:off x="5401049" y="2290493"/>
            <a:ext cx="3557010" cy="90524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プログラム</a:t>
            </a:r>
            <a:r>
              <a:rPr kumimoji="1" lang="ja-JP" altLang="en-US" sz="2800" dirty="0">
                <a:solidFill>
                  <a:schemeClr val="tx1"/>
                </a:solidFill>
              </a:rPr>
              <a:t>責任者</a:t>
            </a:r>
            <a:endParaRPr kumimoji="1"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矢島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58765410-D232-9B74-B236-9ACFD5CF3A26}"/>
              </a:ext>
            </a:extLst>
          </p:cNvPr>
          <p:cNvCxnSpPr>
            <a:cxnSpLocks/>
          </p:cNvCxnSpPr>
          <p:nvPr/>
        </p:nvCxnSpPr>
        <p:spPr>
          <a:xfrm flipH="1" flipV="1">
            <a:off x="4395207" y="2737131"/>
            <a:ext cx="1005840" cy="11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5A26E43-34EC-619F-534B-E312F8AE4C3B}"/>
              </a:ext>
            </a:extLst>
          </p:cNvPr>
          <p:cNvCxnSpPr>
            <a:cxnSpLocks/>
          </p:cNvCxnSpPr>
          <p:nvPr/>
        </p:nvCxnSpPr>
        <p:spPr>
          <a:xfrm flipH="1" flipV="1">
            <a:off x="4395207" y="5486517"/>
            <a:ext cx="1005840" cy="11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1DD2E84A-7181-356C-209B-E7A2928A573D}"/>
              </a:ext>
            </a:extLst>
          </p:cNvPr>
          <p:cNvSpPr/>
          <p:nvPr/>
        </p:nvSpPr>
        <p:spPr>
          <a:xfrm>
            <a:off x="5401047" y="5031242"/>
            <a:ext cx="3557010" cy="90524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検証・評価</a:t>
            </a:r>
            <a:endParaRPr kumimoji="1"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井上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66379CA-542F-BB05-F6D1-4D8EF5A003B5}"/>
              </a:ext>
            </a:extLst>
          </p:cNvPr>
          <p:cNvSpPr txBox="1"/>
          <p:nvPr/>
        </p:nvSpPr>
        <p:spPr>
          <a:xfrm>
            <a:off x="9068912" y="5154256"/>
            <a:ext cx="3244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・作成したプログラムの検証</a:t>
            </a:r>
            <a:r>
              <a:rPr lang="en-US" altLang="ja-JP" dirty="0"/>
              <a:t>,</a:t>
            </a:r>
          </a:p>
          <a:p>
            <a:r>
              <a:rPr lang="ja-JP" altLang="en-US" dirty="0"/>
              <a:t>評価</a:t>
            </a:r>
            <a:r>
              <a:rPr lang="en-US" altLang="ja-JP" dirty="0"/>
              <a:t>,</a:t>
            </a:r>
            <a:r>
              <a:rPr lang="ja-JP" altLang="en-US" dirty="0"/>
              <a:t>修正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84474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8A3D3C-CEA8-838A-7A49-E98CF4E4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開発スケジュール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2BB8B6DB-DA39-85F9-6E79-5EBC9180AA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167562"/>
              </p:ext>
            </p:extLst>
          </p:nvPr>
        </p:nvGraphicFramePr>
        <p:xfrm>
          <a:off x="391886" y="1825624"/>
          <a:ext cx="10961914" cy="435315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383971">
                  <a:extLst>
                    <a:ext uri="{9D8B030D-6E8A-4147-A177-3AD203B41FA5}">
                      <a16:colId xmlns:a16="http://schemas.microsoft.com/office/drawing/2014/main" val="3523476172"/>
                    </a:ext>
                  </a:extLst>
                </a:gridCol>
                <a:gridCol w="748003">
                  <a:extLst>
                    <a:ext uri="{9D8B030D-6E8A-4147-A177-3AD203B41FA5}">
                      <a16:colId xmlns:a16="http://schemas.microsoft.com/office/drawing/2014/main" val="3174878933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1684079788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3459399337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2413360767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2890826332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1278684671"/>
                    </a:ext>
                  </a:extLst>
                </a:gridCol>
              </a:tblGrid>
              <a:tr h="597613">
                <a:tc>
                  <a:txBody>
                    <a:bodyPr/>
                    <a:lstStyle/>
                    <a:p>
                      <a:r>
                        <a:rPr kumimoji="1" lang="ja-JP" altLang="en-US" sz="2000" dirty="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 2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</a:t>
                      </a:r>
                      <a:r>
                        <a:rPr kumimoji="1" lang="ja-JP" altLang="en-US" dirty="0"/>
                        <a:t>１限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</a:t>
                      </a:r>
                      <a:r>
                        <a:rPr kumimoji="1" lang="ja-JP" altLang="en-US" dirty="0"/>
                        <a:t>２限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68038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要求仕様・設計の見直し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段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矢島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63982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スプレッドシート管理用プログラム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矢島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252715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Remo</a:t>
                      </a:r>
                      <a:r>
                        <a:rPr kumimoji="1" lang="ja-JP" altLang="en-US" dirty="0"/>
                        <a:t> の</a:t>
                      </a:r>
                      <a:r>
                        <a:rPr kumimoji="1" lang="en-US" altLang="ja-JP" dirty="0"/>
                        <a:t>API</a:t>
                      </a:r>
                      <a:r>
                        <a:rPr kumimoji="1" lang="ja-JP" altLang="en-US" dirty="0"/>
                        <a:t>接続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市木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53490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MacroDoroid</a:t>
                      </a:r>
                      <a:r>
                        <a:rPr kumimoji="1" lang="ja-JP" altLang="en-US" dirty="0"/>
                        <a:t>連携プログラム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市木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933152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AI </a:t>
                      </a:r>
                      <a:r>
                        <a:rPr kumimoji="1" lang="ja-JP" altLang="en-US" dirty="0"/>
                        <a:t>分析機能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矢島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68132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スプレッドシートへの情報取得テスト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井上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147243"/>
                  </a:ext>
                </a:extLst>
              </a:tr>
            </a:tbl>
          </a:graphicData>
        </a:graphic>
      </p:graphicFrame>
      <p:sp>
        <p:nvSpPr>
          <p:cNvPr id="5" name="矢印: 環状 4">
            <a:extLst>
              <a:ext uri="{FF2B5EF4-FFF2-40B4-BE49-F238E27FC236}">
                <a16:creationId xmlns:a16="http://schemas.microsoft.com/office/drawing/2014/main" id="{9FC4642D-B52C-FC31-563C-6664A0EE0999}"/>
              </a:ext>
            </a:extLst>
          </p:cNvPr>
          <p:cNvSpPr/>
          <p:nvPr/>
        </p:nvSpPr>
        <p:spPr>
          <a:xfrm>
            <a:off x="606510" y="1257975"/>
            <a:ext cx="5052610" cy="567649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EAA8F3E4-24BA-35EA-861D-45410F4ACFC7}"/>
              </a:ext>
            </a:extLst>
          </p:cNvPr>
          <p:cNvSpPr/>
          <p:nvPr/>
        </p:nvSpPr>
        <p:spPr>
          <a:xfrm>
            <a:off x="3627120" y="2514600"/>
            <a:ext cx="138176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88CC03F1-26D7-C950-D71B-FD174D67D292}"/>
              </a:ext>
            </a:extLst>
          </p:cNvPr>
          <p:cNvSpPr/>
          <p:nvPr/>
        </p:nvSpPr>
        <p:spPr>
          <a:xfrm>
            <a:off x="3627120" y="3106736"/>
            <a:ext cx="448056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34A1E166-6702-7E02-8E4D-9AD6EE352257}"/>
              </a:ext>
            </a:extLst>
          </p:cNvPr>
          <p:cNvSpPr/>
          <p:nvPr/>
        </p:nvSpPr>
        <p:spPr>
          <a:xfrm>
            <a:off x="3627120" y="3757608"/>
            <a:ext cx="448056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D535D6D4-1127-2625-D8A3-AC441282D354}"/>
              </a:ext>
            </a:extLst>
          </p:cNvPr>
          <p:cNvSpPr/>
          <p:nvPr/>
        </p:nvSpPr>
        <p:spPr>
          <a:xfrm>
            <a:off x="3627120" y="4376691"/>
            <a:ext cx="138176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B3C12470-3920-19F5-9B4F-1B611B92D48A}"/>
              </a:ext>
            </a:extLst>
          </p:cNvPr>
          <p:cNvSpPr/>
          <p:nvPr/>
        </p:nvSpPr>
        <p:spPr>
          <a:xfrm>
            <a:off x="3627120" y="4995774"/>
            <a:ext cx="448056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0D1322B7-A08F-2120-8640-E2CD533D3E25}"/>
              </a:ext>
            </a:extLst>
          </p:cNvPr>
          <p:cNvSpPr/>
          <p:nvPr/>
        </p:nvSpPr>
        <p:spPr>
          <a:xfrm>
            <a:off x="3627120" y="5602136"/>
            <a:ext cx="138176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5240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4CDF9-8089-2E86-2B8C-FAB5D93A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3CA251-34C0-C650-CE05-9CB95EC3C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開発スケジュール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4CAA04F6-AD7F-FA92-CF1F-F8F4D8B9D4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428877"/>
              </p:ext>
            </p:extLst>
          </p:nvPr>
        </p:nvGraphicFramePr>
        <p:xfrm>
          <a:off x="391886" y="2160904"/>
          <a:ext cx="10961914" cy="307299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432594">
                  <a:extLst>
                    <a:ext uri="{9D8B030D-6E8A-4147-A177-3AD203B41FA5}">
                      <a16:colId xmlns:a16="http://schemas.microsoft.com/office/drawing/2014/main" val="3523476172"/>
                    </a:ext>
                  </a:extLst>
                </a:gridCol>
                <a:gridCol w="699380">
                  <a:extLst>
                    <a:ext uri="{9D8B030D-6E8A-4147-A177-3AD203B41FA5}">
                      <a16:colId xmlns:a16="http://schemas.microsoft.com/office/drawing/2014/main" val="3174878933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1684079788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3459399337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2413360767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2890826332"/>
                    </a:ext>
                  </a:extLst>
                </a:gridCol>
                <a:gridCol w="1565988">
                  <a:extLst>
                    <a:ext uri="{9D8B030D-6E8A-4147-A177-3AD203B41FA5}">
                      <a16:colId xmlns:a16="http://schemas.microsoft.com/office/drawing/2014/main" val="1278684671"/>
                    </a:ext>
                  </a:extLst>
                </a:gridCol>
              </a:tblGrid>
              <a:tr h="597613">
                <a:tc>
                  <a:txBody>
                    <a:bodyPr/>
                    <a:lstStyle/>
                    <a:p>
                      <a:r>
                        <a:rPr kumimoji="1" lang="ja-JP" altLang="en-US" sz="2000" dirty="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 2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</a:t>
                      </a:r>
                      <a:r>
                        <a:rPr kumimoji="1" lang="ja-JP" altLang="en-US" dirty="0"/>
                        <a:t>１限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</a:t>
                      </a:r>
                      <a:r>
                        <a:rPr kumimoji="1" lang="ja-JP" altLang="en-US" dirty="0"/>
                        <a:t>２限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68038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AI </a:t>
                      </a:r>
                      <a:r>
                        <a:rPr kumimoji="1" lang="ja-JP" altLang="en-US" dirty="0"/>
                        <a:t>の分析結果検証テスト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井上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63982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分析結果出力テスト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井上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252715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システムテスト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井上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53490"/>
                  </a:ext>
                </a:extLst>
              </a:tr>
              <a:tr h="59761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開発結果発表資料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段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市木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249701"/>
                  </a:ext>
                </a:extLst>
              </a:tr>
            </a:tbl>
          </a:graphicData>
        </a:graphic>
      </p:graphicFrame>
      <p:sp>
        <p:nvSpPr>
          <p:cNvPr id="3" name="矢印: 環状 2">
            <a:extLst>
              <a:ext uri="{FF2B5EF4-FFF2-40B4-BE49-F238E27FC236}">
                <a16:creationId xmlns:a16="http://schemas.microsoft.com/office/drawing/2014/main" id="{5CEC2DA5-A26C-4419-210B-D8755160EE26}"/>
              </a:ext>
            </a:extLst>
          </p:cNvPr>
          <p:cNvSpPr/>
          <p:nvPr/>
        </p:nvSpPr>
        <p:spPr>
          <a:xfrm>
            <a:off x="555710" y="1257975"/>
            <a:ext cx="4910370" cy="432713"/>
          </a:xfrm>
          <a:prstGeom prst="circularArrow">
            <a:avLst>
              <a:gd name="adj1" fmla="val 19326"/>
              <a:gd name="adj2" fmla="val 1142319"/>
              <a:gd name="adj3" fmla="val 264402"/>
              <a:gd name="adj4" fmla="val 10800000"/>
              <a:gd name="adj5" fmla="val 12500"/>
            </a:avLst>
          </a:prstGeom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F1BEA0F7-8674-F249-BFD8-F8FD376D366F}"/>
              </a:ext>
            </a:extLst>
          </p:cNvPr>
          <p:cNvSpPr/>
          <p:nvPr/>
        </p:nvSpPr>
        <p:spPr>
          <a:xfrm>
            <a:off x="8331200" y="2852691"/>
            <a:ext cx="291592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E10E2DBB-B651-1FC2-8C94-B04FECD784CC}"/>
              </a:ext>
            </a:extLst>
          </p:cNvPr>
          <p:cNvSpPr/>
          <p:nvPr/>
        </p:nvSpPr>
        <p:spPr>
          <a:xfrm>
            <a:off x="8331200" y="3429000"/>
            <a:ext cx="291592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B821CB60-7537-2CF5-302B-E29BABBB63A7}"/>
              </a:ext>
            </a:extLst>
          </p:cNvPr>
          <p:cNvSpPr/>
          <p:nvPr/>
        </p:nvSpPr>
        <p:spPr>
          <a:xfrm>
            <a:off x="8331200" y="4047398"/>
            <a:ext cx="291592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E37E1A09-EBD3-F466-38CE-62AB406ABDFE}"/>
              </a:ext>
            </a:extLst>
          </p:cNvPr>
          <p:cNvSpPr/>
          <p:nvPr/>
        </p:nvSpPr>
        <p:spPr>
          <a:xfrm>
            <a:off x="8331200" y="4681036"/>
            <a:ext cx="2915920" cy="457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222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61790CFEE130748A3621AD10AFF1248" ma:contentTypeVersion="5" ma:contentTypeDescription="新しいドキュメントを作成します。" ma:contentTypeScope="" ma:versionID="e284903a9abf4d4c70659dd2cf43859d">
  <xsd:schema xmlns:xsd="http://www.w3.org/2001/XMLSchema" xmlns:xs="http://www.w3.org/2001/XMLSchema" xmlns:p="http://schemas.microsoft.com/office/2006/metadata/properties" xmlns:ns3="9191068e-7961-4b10-acef-ecfe79ed6ecd" targetNamespace="http://schemas.microsoft.com/office/2006/metadata/properties" ma:root="true" ma:fieldsID="f76adc7a510b2d8113c3fa5a3c247f65" ns3:_="">
    <xsd:import namespace="9191068e-7961-4b10-acef-ecfe79ed6ec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91068e-7961-4b10-acef-ecfe79ed6ec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91068e-7961-4b10-acef-ecfe79ed6ec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7DB95-708E-4A7F-8CD8-680286AB7A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91068e-7961-4b10-acef-ecfe79ed6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43D71D-7C3D-4F8B-AF0F-BCE2F26F7C39}">
  <ds:schemaRefs>
    <ds:schemaRef ds:uri="http://www.w3.org/XML/1998/namespace"/>
    <ds:schemaRef ds:uri="http://purl.org/dc/dcmitype/"/>
    <ds:schemaRef ds:uri="9191068e-7961-4b10-acef-ecfe79ed6ecd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CBC3CF0-86BC-4DF1-8DD2-D238569387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449438d-3606-490b-844f-c4e15e535fca}" enabled="0" method="" siteId="{a449438d-3606-490b-844f-c4e15e535f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598</Words>
  <Application>Microsoft Office PowerPoint</Application>
  <PresentationFormat>ワイド画面</PresentationFormat>
  <Paragraphs>127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中間発表</vt:lpstr>
      <vt:lpstr>要求仕様</vt:lpstr>
      <vt:lpstr>システムの概要</vt:lpstr>
      <vt:lpstr>具体的な流れ</vt:lpstr>
      <vt:lpstr>要求仕様</vt:lpstr>
      <vt:lpstr>想定する利用者</vt:lpstr>
      <vt:lpstr>設計</vt:lpstr>
      <vt:lpstr>システム構成</vt:lpstr>
      <vt:lpstr>システム処理の流れ</vt:lpstr>
      <vt:lpstr>データ保存</vt:lpstr>
      <vt:lpstr>AI 分析機能</vt:lpstr>
      <vt:lpstr>必要なモジュール</vt:lpstr>
      <vt:lpstr>工夫点</vt:lpstr>
      <vt:lpstr>開発体制</vt:lpstr>
      <vt:lpstr>開発スケジュール</vt:lpstr>
      <vt:lpstr>開発スケジュール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大翔 市木</dc:creator>
  <cp:lastModifiedBy>市木 大翔(is0816kh)</cp:lastModifiedBy>
  <cp:revision>4</cp:revision>
  <dcterms:created xsi:type="dcterms:W3CDTF">2026-06-10T06:07:55Z</dcterms:created>
  <dcterms:modified xsi:type="dcterms:W3CDTF">2026-06-17T01:54:04Z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0x010100D61790CFEE130748A3621AD10AFF1248</vt:lpwstr>
  </property>
</Properties>
</file>